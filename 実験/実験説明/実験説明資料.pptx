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7c80f684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7c80f684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7c80f684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7c80f684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7c80f684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7c80f684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7c80f684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7c80f684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7c80f684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7c80f684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7c80f684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7c80f684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7c80f684d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7c80f684d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7c80f684d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7c80f684d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7c80f684d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7c80f684d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7c80f684d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7c80f684d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7c80f684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7c80f684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7c80f684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7c80f684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7c80f684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b7c80f684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7c80f684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7c80f684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7c80f684d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7c80f684d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jp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iplab.cs.tsukuba.ac.jp/~wada/nasa-tlx/"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実験説明資料</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COMM B4 </a:t>
            </a:r>
            <a:r>
              <a:rPr lang="ja"/>
              <a:t>石井晃斗</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はじめに</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ja"/>
              <a:t>お忙しい中実験に協力して頂きありがとうございます</a:t>
            </a:r>
            <a:endParaRPr/>
          </a:p>
        </p:txBody>
      </p:sp>
      <p:pic>
        <p:nvPicPr>
          <p:cNvPr id="62" name="Google Shape;62;p14"/>
          <p:cNvPicPr preferRelativeResize="0"/>
          <p:nvPr/>
        </p:nvPicPr>
        <p:blipFill>
          <a:blip r:embed="rId3">
            <a:alphaModFix/>
          </a:blip>
          <a:stretch>
            <a:fillRect/>
          </a:stretch>
        </p:blipFill>
        <p:spPr>
          <a:xfrm>
            <a:off x="3706058" y="1652200"/>
            <a:ext cx="1731875" cy="2875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実験の流れ</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実験概要説明</a:t>
            </a:r>
            <a:endParaRPr/>
          </a:p>
          <a:p>
            <a:pPr indent="-342900" lvl="0" marL="457200" rtl="0" algn="l">
              <a:spcBef>
                <a:spcPts val="0"/>
              </a:spcBef>
              <a:spcAft>
                <a:spcPts val="0"/>
              </a:spcAft>
              <a:buSzPts val="1800"/>
              <a:buAutoNum type="arabicPeriod"/>
            </a:pPr>
            <a:r>
              <a:rPr lang="ja"/>
              <a:t>実験前アンケート</a:t>
            </a:r>
            <a:endParaRPr/>
          </a:p>
          <a:p>
            <a:pPr indent="-342900" lvl="0" marL="457200" rtl="0" algn="l">
              <a:spcBef>
                <a:spcPts val="0"/>
              </a:spcBef>
              <a:spcAft>
                <a:spcPts val="0"/>
              </a:spcAft>
              <a:buSzPts val="1800"/>
              <a:buAutoNum type="arabicPeriod"/>
            </a:pPr>
            <a:r>
              <a:rPr lang="ja"/>
              <a:t>タスク（1回目）</a:t>
            </a:r>
            <a:endParaRPr/>
          </a:p>
          <a:p>
            <a:pPr indent="-342900" lvl="0" marL="457200" rtl="0" algn="l">
              <a:spcBef>
                <a:spcPts val="0"/>
              </a:spcBef>
              <a:spcAft>
                <a:spcPts val="0"/>
              </a:spcAft>
              <a:buSzPts val="1800"/>
              <a:buAutoNum type="arabicPeriod"/>
            </a:pPr>
            <a:r>
              <a:rPr lang="ja"/>
              <a:t>NASA-TLX（1回目）</a:t>
            </a:r>
            <a:endParaRPr/>
          </a:p>
          <a:p>
            <a:pPr indent="-342900" lvl="0" marL="457200" rtl="0" algn="l">
              <a:spcBef>
                <a:spcPts val="0"/>
              </a:spcBef>
              <a:spcAft>
                <a:spcPts val="0"/>
              </a:spcAft>
              <a:buSzPts val="1800"/>
              <a:buAutoNum type="arabicPeriod"/>
            </a:pPr>
            <a:r>
              <a:rPr lang="ja"/>
              <a:t>タスク（2回目）</a:t>
            </a:r>
            <a:endParaRPr/>
          </a:p>
          <a:p>
            <a:pPr indent="-342900" lvl="0" marL="457200" rtl="0" algn="l">
              <a:spcBef>
                <a:spcPts val="0"/>
              </a:spcBef>
              <a:spcAft>
                <a:spcPts val="0"/>
              </a:spcAft>
              <a:buSzPts val="1800"/>
              <a:buAutoNum type="arabicPeriod"/>
            </a:pPr>
            <a:r>
              <a:rPr lang="ja"/>
              <a:t>NASA-TLX（2回目）</a:t>
            </a:r>
            <a:endParaRPr/>
          </a:p>
          <a:p>
            <a:pPr indent="-342900" lvl="0" marL="457200" rtl="0" algn="l">
              <a:spcBef>
                <a:spcPts val="0"/>
              </a:spcBef>
              <a:spcAft>
                <a:spcPts val="0"/>
              </a:spcAft>
              <a:buSzPts val="1800"/>
              <a:buAutoNum type="arabicPeriod"/>
            </a:pPr>
            <a:r>
              <a:rPr lang="ja"/>
              <a:t>実験後アンケート</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課題名</a:t>
            </a:r>
            <a:endParaRPr/>
          </a:p>
          <a:p>
            <a:pPr indent="0" lvl="0" marL="0" rtl="0" algn="l">
              <a:spcBef>
                <a:spcPts val="1200"/>
              </a:spcBef>
              <a:spcAft>
                <a:spcPts val="1200"/>
              </a:spcAft>
              <a:buNone/>
            </a:pPr>
            <a:r>
              <a:rPr lang="ja"/>
              <a:t>「複数の小型プロペラを用いた力覚提示の方向知覚特性の調査」</a:t>
            </a:r>
            <a:endParaRPr/>
          </a:p>
        </p:txBody>
      </p:sp>
      <p:pic>
        <p:nvPicPr>
          <p:cNvPr id="75" name="Google Shape;75;p16"/>
          <p:cNvPicPr preferRelativeResize="0"/>
          <p:nvPr/>
        </p:nvPicPr>
        <p:blipFill>
          <a:blip r:embed="rId3">
            <a:alphaModFix/>
          </a:blip>
          <a:stretch>
            <a:fillRect/>
          </a:stretch>
        </p:blipFill>
        <p:spPr>
          <a:xfrm>
            <a:off x="3718337" y="2291875"/>
            <a:ext cx="1707324" cy="22769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デバイスは同一平面上の任意の角度（0-360°）に力覚を提示します</a:t>
            </a:r>
            <a:endParaRPr/>
          </a:p>
          <a:p>
            <a:pPr indent="-342900" lvl="0" marL="457200" rtl="0" algn="l">
              <a:spcBef>
                <a:spcPts val="0"/>
              </a:spcBef>
              <a:spcAft>
                <a:spcPts val="0"/>
              </a:spcAft>
              <a:buSzPts val="1800"/>
              <a:buChar char="●"/>
            </a:pPr>
            <a:r>
              <a:rPr lang="ja"/>
              <a:t>力覚の強さは一定範囲内で調節可能</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装着方法（持ち方）が異なる2つの力覚提示デバイスを使い、</a:t>
            </a:r>
            <a:br>
              <a:rPr lang="ja"/>
            </a:br>
            <a:r>
              <a:rPr lang="ja"/>
              <a:t>デバイスから提示される方向を答えるタスクを実施してもらいます</a:t>
            </a:r>
            <a:endParaRPr/>
          </a:p>
          <a:p>
            <a:pPr indent="-342900" lvl="0" marL="457200" rtl="0" algn="l">
              <a:spcBef>
                <a:spcPts val="0"/>
              </a:spcBef>
              <a:spcAft>
                <a:spcPts val="0"/>
              </a:spcAft>
              <a:buSzPts val="1800"/>
              <a:buChar char="●"/>
            </a:pPr>
            <a:r>
              <a:rPr lang="ja"/>
              <a:t>Wrist-worn条件（左：腕につける）とHand-grip条件（右：手に持つ）</a:t>
            </a:r>
            <a:endParaRPr/>
          </a:p>
        </p:txBody>
      </p:sp>
      <p:pic>
        <p:nvPicPr>
          <p:cNvPr id="88" name="Google Shape;88;p18"/>
          <p:cNvPicPr preferRelativeResize="0"/>
          <p:nvPr/>
        </p:nvPicPr>
        <p:blipFill>
          <a:blip r:embed="rId3">
            <a:alphaModFix/>
          </a:blip>
          <a:stretch>
            <a:fillRect/>
          </a:stretch>
        </p:blipFill>
        <p:spPr>
          <a:xfrm>
            <a:off x="5571350" y="2571742"/>
            <a:ext cx="1707324" cy="2276996"/>
          </a:xfrm>
          <a:prstGeom prst="rect">
            <a:avLst/>
          </a:prstGeom>
          <a:noFill/>
          <a:ln>
            <a:noFill/>
          </a:ln>
        </p:spPr>
      </p:pic>
      <p:pic>
        <p:nvPicPr>
          <p:cNvPr id="89" name="Google Shape;89;p18"/>
          <p:cNvPicPr preferRelativeResize="0"/>
          <p:nvPr/>
        </p:nvPicPr>
        <p:blipFill>
          <a:blip r:embed="rId4">
            <a:alphaModFix/>
          </a:blip>
          <a:stretch>
            <a:fillRect/>
          </a:stretch>
        </p:blipFill>
        <p:spPr>
          <a:xfrm>
            <a:off x="2134425" y="2572325"/>
            <a:ext cx="1707326" cy="22758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仕切り板によってデバイスを直接視認できない状態でタスクを行います</a:t>
            </a:r>
            <a:endParaRPr/>
          </a:p>
          <a:p>
            <a:pPr indent="-342900" lvl="0" marL="457200" rtl="0" algn="l">
              <a:spcBef>
                <a:spcPts val="0"/>
              </a:spcBef>
              <a:spcAft>
                <a:spcPts val="0"/>
              </a:spcAft>
              <a:buSzPts val="1800"/>
              <a:buChar char="●"/>
            </a:pPr>
            <a:r>
              <a:rPr lang="ja"/>
              <a:t>デバイスは利き手（利き腕）に装着するようにしてください</a:t>
            </a:r>
            <a:endParaRPr/>
          </a:p>
          <a:p>
            <a:pPr indent="-342900" lvl="0" marL="457200" rtl="0" algn="l">
              <a:spcBef>
                <a:spcPts val="0"/>
              </a:spcBef>
              <a:spcAft>
                <a:spcPts val="0"/>
              </a:spcAft>
              <a:buSzPts val="1800"/>
              <a:buChar char="●"/>
            </a:pPr>
            <a:r>
              <a:rPr lang="ja"/>
              <a:t>デバイスの持ち方（つけ方）は実験実施者の指示に従ってください</a:t>
            </a:r>
            <a:endParaRPr/>
          </a:p>
          <a:p>
            <a:pPr indent="-342900" lvl="0" marL="457200" rtl="0" algn="l">
              <a:spcBef>
                <a:spcPts val="0"/>
              </a:spcBef>
              <a:spcAft>
                <a:spcPts val="0"/>
              </a:spcAft>
              <a:buSzPts val="1800"/>
              <a:buChar char="●"/>
            </a:pPr>
            <a:r>
              <a:rPr lang="ja"/>
              <a:t>実験の進行は専用のWebアプリを用いて行います(後述)</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実験開始時このような画面が表示されます</a:t>
            </a:r>
            <a:endParaRPr/>
          </a:p>
          <a:p>
            <a:pPr indent="-342900" lvl="0" marL="457200" rtl="0" algn="l">
              <a:spcBef>
                <a:spcPts val="0"/>
              </a:spcBef>
              <a:spcAft>
                <a:spcPts val="0"/>
              </a:spcAft>
              <a:buSzPts val="1800"/>
              <a:buChar char="●"/>
            </a:pPr>
            <a:r>
              <a:rPr lang="ja"/>
              <a:t>開始を押すとタスクが始まります</a:t>
            </a:r>
            <a:endParaRPr/>
          </a:p>
        </p:txBody>
      </p:sp>
      <p:pic>
        <p:nvPicPr>
          <p:cNvPr id="102" name="Google Shape;102;p20"/>
          <p:cNvPicPr preferRelativeResize="0"/>
          <p:nvPr/>
        </p:nvPicPr>
        <p:blipFill>
          <a:blip r:embed="rId3">
            <a:alphaModFix/>
          </a:blip>
          <a:stretch>
            <a:fillRect/>
          </a:stretch>
        </p:blipFill>
        <p:spPr>
          <a:xfrm>
            <a:off x="1655713" y="1968828"/>
            <a:ext cx="5974174" cy="3017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タスクの内容は以下の通りです（各手法で練習あり）</a:t>
            </a:r>
            <a:endParaRPr/>
          </a:p>
        </p:txBody>
      </p:sp>
      <p:pic>
        <p:nvPicPr>
          <p:cNvPr id="109" name="Google Shape;109;p21"/>
          <p:cNvPicPr preferRelativeResize="0"/>
          <p:nvPr/>
        </p:nvPicPr>
        <p:blipFill>
          <a:blip r:embed="rId3">
            <a:alphaModFix/>
          </a:blip>
          <a:stretch>
            <a:fillRect/>
          </a:stretch>
        </p:blipFill>
        <p:spPr>
          <a:xfrm>
            <a:off x="3032075" y="2108925"/>
            <a:ext cx="2294823" cy="2028600"/>
          </a:xfrm>
          <a:prstGeom prst="rect">
            <a:avLst/>
          </a:prstGeom>
          <a:noFill/>
          <a:ln>
            <a:noFill/>
          </a:ln>
        </p:spPr>
      </p:pic>
      <p:pic>
        <p:nvPicPr>
          <p:cNvPr id="110" name="Google Shape;110;p21"/>
          <p:cNvPicPr preferRelativeResize="0"/>
          <p:nvPr/>
        </p:nvPicPr>
        <p:blipFill>
          <a:blip r:embed="rId4">
            <a:alphaModFix/>
          </a:blip>
          <a:stretch>
            <a:fillRect/>
          </a:stretch>
        </p:blipFill>
        <p:spPr>
          <a:xfrm>
            <a:off x="273562" y="2108925"/>
            <a:ext cx="1707324" cy="2276996"/>
          </a:xfrm>
          <a:prstGeom prst="rect">
            <a:avLst/>
          </a:prstGeom>
          <a:noFill/>
          <a:ln>
            <a:noFill/>
          </a:ln>
        </p:spPr>
      </p:pic>
      <p:sp>
        <p:nvSpPr>
          <p:cNvPr id="111" name="Google Shape;111;p21"/>
          <p:cNvSpPr txBox="1"/>
          <p:nvPr/>
        </p:nvSpPr>
        <p:spPr>
          <a:xfrm>
            <a:off x="0" y="4451400"/>
            <a:ext cx="25089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chemeClr val="dk2"/>
                </a:solidFill>
              </a:rPr>
              <a:t>デバイスから力覚が提示</a:t>
            </a:r>
            <a:endParaRPr sz="1600">
              <a:solidFill>
                <a:schemeClr val="dk2"/>
              </a:solidFill>
            </a:endParaRPr>
          </a:p>
        </p:txBody>
      </p:sp>
      <p:sp>
        <p:nvSpPr>
          <p:cNvPr id="112" name="Google Shape;112;p21"/>
          <p:cNvSpPr txBox="1"/>
          <p:nvPr/>
        </p:nvSpPr>
        <p:spPr>
          <a:xfrm>
            <a:off x="2925050" y="4246900"/>
            <a:ext cx="25089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chemeClr val="dk2"/>
                </a:solidFill>
              </a:rPr>
              <a:t>アプリ上で方向を回答</a:t>
            </a:r>
            <a:endParaRPr sz="1600">
              <a:solidFill>
                <a:schemeClr val="dk2"/>
              </a:solidFill>
            </a:endParaRPr>
          </a:p>
          <a:p>
            <a:pPr indent="0" lvl="0" marL="0" rtl="0" algn="l">
              <a:spcBef>
                <a:spcPts val="0"/>
              </a:spcBef>
              <a:spcAft>
                <a:spcPts val="0"/>
              </a:spcAft>
              <a:buNone/>
            </a:pPr>
            <a:r>
              <a:rPr lang="ja" sz="1600">
                <a:solidFill>
                  <a:schemeClr val="dk2"/>
                </a:solidFill>
              </a:rPr>
              <a:t>円の中をクリック！</a:t>
            </a:r>
            <a:endParaRPr sz="1600">
              <a:solidFill>
                <a:schemeClr val="dk2"/>
              </a:solidFill>
            </a:endParaRPr>
          </a:p>
        </p:txBody>
      </p:sp>
      <p:pic>
        <p:nvPicPr>
          <p:cNvPr id="113" name="Google Shape;113;p21"/>
          <p:cNvPicPr preferRelativeResize="0"/>
          <p:nvPr/>
        </p:nvPicPr>
        <p:blipFill>
          <a:blip r:embed="rId5">
            <a:alphaModFix/>
          </a:blip>
          <a:stretch>
            <a:fillRect/>
          </a:stretch>
        </p:blipFill>
        <p:spPr>
          <a:xfrm>
            <a:off x="6235375" y="2063800"/>
            <a:ext cx="2794400" cy="2118851"/>
          </a:xfrm>
          <a:prstGeom prst="rect">
            <a:avLst/>
          </a:prstGeom>
          <a:noFill/>
          <a:ln>
            <a:noFill/>
          </a:ln>
        </p:spPr>
      </p:pic>
      <p:sp>
        <p:nvSpPr>
          <p:cNvPr id="114" name="Google Shape;114;p21"/>
          <p:cNvSpPr txBox="1"/>
          <p:nvPr/>
        </p:nvSpPr>
        <p:spPr>
          <a:xfrm>
            <a:off x="6814625" y="4451400"/>
            <a:ext cx="16359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solidFill>
                  <a:schemeClr val="dk2"/>
                </a:solidFill>
              </a:rPr>
              <a:t>小質問への回答</a:t>
            </a:r>
            <a:endParaRPr sz="1600">
              <a:solidFill>
                <a:schemeClr val="dk2"/>
              </a:solidFill>
            </a:endParaRPr>
          </a:p>
        </p:txBody>
      </p:sp>
      <p:sp>
        <p:nvSpPr>
          <p:cNvPr id="115" name="Google Shape;115;p21"/>
          <p:cNvSpPr/>
          <p:nvPr/>
        </p:nvSpPr>
        <p:spPr>
          <a:xfrm>
            <a:off x="2270525" y="2942325"/>
            <a:ext cx="471900" cy="361800"/>
          </a:xfrm>
          <a:prstGeom prst="rightArrow">
            <a:avLst>
              <a:gd fmla="val 50000" name="adj1"/>
              <a:gd fmla="val 50000" name="adj2"/>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1"/>
          <p:cNvSpPr/>
          <p:nvPr/>
        </p:nvSpPr>
        <p:spPr>
          <a:xfrm>
            <a:off x="5616550" y="3066525"/>
            <a:ext cx="471900" cy="361800"/>
          </a:xfrm>
          <a:prstGeom prst="rightArrow">
            <a:avLst>
              <a:gd fmla="val 50000" name="adj1"/>
              <a:gd fmla="val 50000" name="adj2"/>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122" name="Google Shape;12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全てのタスクを完了するとこのような画面になるので教えて下さい</a:t>
            </a:r>
            <a:endParaRPr/>
          </a:p>
          <a:p>
            <a:pPr indent="-342900" lvl="0" marL="457200" rtl="0" algn="l">
              <a:spcBef>
                <a:spcPts val="0"/>
              </a:spcBef>
              <a:spcAft>
                <a:spcPts val="0"/>
              </a:spcAft>
              <a:buSzPts val="1800"/>
              <a:buChar char="●"/>
            </a:pPr>
            <a:r>
              <a:rPr lang="ja"/>
              <a:t>ホーム画面に戻らないように注意！！！！！！</a:t>
            </a:r>
            <a:endParaRPr/>
          </a:p>
        </p:txBody>
      </p:sp>
      <p:pic>
        <p:nvPicPr>
          <p:cNvPr id="123" name="Google Shape;123;p22"/>
          <p:cNvPicPr preferRelativeResize="0"/>
          <p:nvPr/>
        </p:nvPicPr>
        <p:blipFill>
          <a:blip r:embed="rId3">
            <a:alphaModFix/>
          </a:blip>
          <a:stretch>
            <a:fillRect/>
          </a:stretch>
        </p:blipFill>
        <p:spPr>
          <a:xfrm>
            <a:off x="1630613" y="2201352"/>
            <a:ext cx="5882774" cy="2756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129" name="Google Shape;129;p23"/>
          <p:cNvSpPr txBox="1"/>
          <p:nvPr>
            <p:ph idx="1" type="body"/>
          </p:nvPr>
        </p:nvSpPr>
        <p:spPr>
          <a:xfrm>
            <a:off x="311700" y="1152475"/>
            <a:ext cx="8724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前スライドの「力覚提示→回答→小質問」の流れを1手法毎に16回繰り返す</a:t>
            </a:r>
            <a:endParaRPr/>
          </a:p>
          <a:p>
            <a:pPr indent="-342900" lvl="0" marL="457200" rtl="0" algn="l">
              <a:spcBef>
                <a:spcPts val="0"/>
              </a:spcBef>
              <a:spcAft>
                <a:spcPts val="0"/>
              </a:spcAft>
              <a:buSzPts val="1800"/>
              <a:buChar char="●"/>
            </a:pPr>
            <a:r>
              <a:rPr lang="ja"/>
              <a:t>提示される力覚の方向</a:t>
            </a:r>
            <a:r>
              <a:rPr lang="ja"/>
              <a:t>と順番</a:t>
            </a:r>
            <a:r>
              <a:rPr lang="ja"/>
              <a:t>はランダム</a:t>
            </a:r>
            <a:endParaRPr/>
          </a:p>
          <a:p>
            <a:pPr indent="-342900" lvl="0" marL="457200" rtl="0" algn="l">
              <a:spcBef>
                <a:spcPts val="0"/>
              </a:spcBef>
              <a:spcAft>
                <a:spcPts val="0"/>
              </a:spcAft>
              <a:buSzPts val="1800"/>
              <a:buChar char="●"/>
            </a:pPr>
            <a:r>
              <a:rPr lang="ja"/>
              <a:t>力覚の強さは弱と強の2パターン</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ja"/>
              <a:t>各手法のタスク完了後、NASA-TLXに回答</a:t>
            </a:r>
            <a:endParaRPr/>
          </a:p>
          <a:p>
            <a:pPr indent="-317500" lvl="1" marL="914400" rtl="0" algn="l">
              <a:spcBef>
                <a:spcPts val="0"/>
              </a:spcBef>
              <a:spcAft>
                <a:spcPts val="0"/>
              </a:spcAft>
              <a:buSzPts val="1400"/>
              <a:buChar char="○"/>
            </a:pPr>
            <a:r>
              <a:rPr lang="ja" u="sng">
                <a:solidFill>
                  <a:schemeClr val="hlink"/>
                </a:solidFill>
                <a:hlinkClick r:id="rId3"/>
              </a:rPr>
              <a:t>NASA Task Load Index - タスクアンケート</a:t>
            </a:r>
            <a:endParaRPr/>
          </a:p>
          <a:p>
            <a:pPr indent="-342900" lvl="0" marL="457200" rtl="0" algn="l">
              <a:spcBef>
                <a:spcPts val="0"/>
              </a:spcBef>
              <a:spcAft>
                <a:spcPts val="0"/>
              </a:spcAft>
              <a:buSzPts val="1800"/>
              <a:buChar char="●"/>
            </a:pPr>
            <a:r>
              <a:rPr lang="ja"/>
              <a:t>両方の手法完了後、実験後アンケートに回答して終了</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135" name="Google Shape;135;p24"/>
          <p:cNvSpPr txBox="1"/>
          <p:nvPr>
            <p:ph idx="1" type="body"/>
          </p:nvPr>
        </p:nvSpPr>
        <p:spPr>
          <a:xfrm>
            <a:off x="311700" y="1152475"/>
            <a:ext cx="8724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各条件の本番タスク前に練習タスクを行うことができます</a:t>
            </a:r>
            <a:endParaRPr/>
          </a:p>
          <a:p>
            <a:pPr indent="-342900" lvl="0" marL="457200" rtl="0" algn="l">
              <a:spcBef>
                <a:spcPts val="0"/>
              </a:spcBef>
              <a:spcAft>
                <a:spcPts val="0"/>
              </a:spcAft>
              <a:buSzPts val="1800"/>
              <a:buChar char="●"/>
            </a:pPr>
            <a:r>
              <a:rPr lang="ja"/>
              <a:t>練習タスクでは正解が表示されるので感覚に慣れるために活用してください</a:t>
            </a:r>
            <a:endParaRPr/>
          </a:p>
          <a:p>
            <a:pPr indent="-342900" lvl="0" marL="457200" rtl="0" algn="l">
              <a:spcBef>
                <a:spcPts val="0"/>
              </a:spcBef>
              <a:spcAft>
                <a:spcPts val="0"/>
              </a:spcAft>
              <a:buSzPts val="1800"/>
              <a:buChar char="●"/>
            </a:pPr>
            <a:r>
              <a:rPr lang="ja"/>
              <a:t>練習タスクは途中でやめて本番を始めることができます</a:t>
            </a:r>
            <a:endParaRPr/>
          </a:p>
        </p:txBody>
      </p:sp>
      <p:pic>
        <p:nvPicPr>
          <p:cNvPr id="136" name="Google Shape;136;p24"/>
          <p:cNvPicPr preferRelativeResize="0"/>
          <p:nvPr/>
        </p:nvPicPr>
        <p:blipFill>
          <a:blip r:embed="rId3">
            <a:alphaModFix/>
          </a:blip>
          <a:stretch>
            <a:fillRect/>
          </a:stretch>
        </p:blipFill>
        <p:spPr>
          <a:xfrm>
            <a:off x="1550248" y="2571750"/>
            <a:ext cx="6043499" cy="2006775"/>
          </a:xfrm>
          <a:prstGeom prst="rect">
            <a:avLst/>
          </a:prstGeom>
          <a:noFill/>
          <a:ln>
            <a:noFill/>
          </a:ln>
        </p:spPr>
      </p:pic>
      <p:sp>
        <p:nvSpPr>
          <p:cNvPr id="137" name="Google Shape;137;p24"/>
          <p:cNvSpPr/>
          <p:nvPr/>
        </p:nvSpPr>
        <p:spPr>
          <a:xfrm>
            <a:off x="1651575" y="3216650"/>
            <a:ext cx="1840500" cy="3303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実験概要</a:t>
            </a:r>
            <a:endParaRPr/>
          </a:p>
        </p:txBody>
      </p:sp>
      <p:sp>
        <p:nvSpPr>
          <p:cNvPr id="143" name="Google Shape;143;p25"/>
          <p:cNvSpPr txBox="1"/>
          <p:nvPr>
            <p:ph idx="1" type="body"/>
          </p:nvPr>
        </p:nvSpPr>
        <p:spPr>
          <a:xfrm>
            <a:off x="311700" y="1152475"/>
            <a:ext cx="8724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参加者番号をお伝えするので覚えておいてください</a:t>
            </a:r>
            <a:endParaRPr/>
          </a:p>
          <a:p>
            <a:pPr indent="-342900" lvl="0" marL="457200" rtl="0" algn="l">
              <a:spcBef>
                <a:spcPts val="0"/>
              </a:spcBef>
              <a:spcAft>
                <a:spcPts val="0"/>
              </a:spcAft>
              <a:buSzPts val="1800"/>
              <a:buChar char="●"/>
            </a:pPr>
            <a:r>
              <a:rPr lang="ja"/>
              <a:t>参加者番号が奇数の方は Wrist-worn→Hand-grip</a:t>
            </a:r>
            <a:br>
              <a:rPr lang="ja"/>
            </a:br>
            <a:r>
              <a:rPr lang="ja"/>
              <a:t>			偶数の方は Hand-grip→Wrist-worn　の順番で実施します</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a:t>
            </a:r>
            <a:r>
              <a:rPr lang="ja"/>
              <a:t>補足</a:t>
            </a:r>
            <a:endParaRPr/>
          </a:p>
        </p:txBody>
      </p:sp>
      <p:sp>
        <p:nvSpPr>
          <p:cNvPr id="149" name="Google Shape;149;p26"/>
          <p:cNvSpPr txBox="1"/>
          <p:nvPr>
            <p:ph idx="1" type="body"/>
          </p:nvPr>
        </p:nvSpPr>
        <p:spPr>
          <a:xfrm>
            <a:off x="311700" y="1152475"/>
            <a:ext cx="8724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実験用PCは画面タッチに対応しています</a:t>
            </a:r>
            <a:endParaRPr/>
          </a:p>
          <a:p>
            <a:pPr indent="-342900" lvl="0" marL="457200" rtl="0" algn="l">
              <a:spcBef>
                <a:spcPts val="0"/>
              </a:spcBef>
              <a:spcAft>
                <a:spcPts val="0"/>
              </a:spcAft>
              <a:buSzPts val="1800"/>
              <a:buChar char="●"/>
            </a:pPr>
            <a:r>
              <a:rPr lang="ja"/>
              <a:t>タスク中、力覚を感じなかった場合には「スキップ」ボタンを押すと</a:t>
            </a:r>
            <a:br>
              <a:rPr lang="ja"/>
            </a:br>
            <a:r>
              <a:rPr lang="ja"/>
              <a:t>そのタスクをスキップできます</a:t>
            </a:r>
            <a:endParaRPr/>
          </a:p>
          <a:p>
            <a:pPr indent="-317500" lvl="1" marL="914400" rtl="0" algn="l">
              <a:spcBef>
                <a:spcPts val="0"/>
              </a:spcBef>
              <a:spcAft>
                <a:spcPts val="0"/>
              </a:spcAft>
              <a:buSzPts val="1400"/>
              <a:buChar char="○"/>
            </a:pPr>
            <a:r>
              <a:rPr lang="ja"/>
              <a:t>その際、小質問への回答はどちらも1にしてください</a:t>
            </a:r>
            <a:endParaRPr/>
          </a:p>
          <a:p>
            <a:pPr indent="-317500" lvl="1" marL="914400" rtl="0" algn="l">
              <a:spcBef>
                <a:spcPts val="0"/>
              </a:spcBef>
              <a:spcAft>
                <a:spcPts val="0"/>
              </a:spcAft>
              <a:buSzPts val="1400"/>
              <a:buChar char="○"/>
            </a:pPr>
            <a:r>
              <a:rPr lang="ja"/>
              <a:t>方向に迷った際や少しでも力覚を感じた場合は、一番近いと思う方向を回答するようにしてください</a:t>
            </a:r>
            <a:endParaRPr/>
          </a:p>
          <a:p>
            <a:pPr indent="-342900" lvl="0" marL="457200" rtl="0" algn="l">
              <a:spcBef>
                <a:spcPts val="0"/>
              </a:spcBef>
              <a:spcAft>
                <a:spcPts val="0"/>
              </a:spcAft>
              <a:buSzPts val="1800"/>
              <a:buChar char="●"/>
            </a:pPr>
            <a:r>
              <a:rPr lang="ja"/>
              <a:t>方向を回答する画面では、45°刻みで目安となる表示があるので参考にしてください</a:t>
            </a:r>
            <a:endParaRPr/>
          </a:p>
          <a:p>
            <a:pPr indent="-342900" lvl="0" marL="457200" rtl="0" algn="l">
              <a:spcBef>
                <a:spcPts val="0"/>
              </a:spcBef>
              <a:spcAft>
                <a:spcPts val="0"/>
              </a:spcAft>
              <a:buClr>
                <a:srgbClr val="FF0000"/>
              </a:buClr>
              <a:buSzPts val="1800"/>
              <a:buChar char="●"/>
            </a:pPr>
            <a:r>
              <a:rPr b="1" lang="ja">
                <a:solidFill>
                  <a:srgbClr val="FF0000"/>
                </a:solidFill>
              </a:rPr>
              <a:t>実際に提示される方向は45°刻みではないことがあるので注意！！！！！</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実験補足</a:t>
            </a:r>
            <a:endParaRPr/>
          </a:p>
        </p:txBody>
      </p:sp>
      <p:sp>
        <p:nvSpPr>
          <p:cNvPr id="155" name="Google Shape;155;p27"/>
          <p:cNvSpPr txBox="1"/>
          <p:nvPr>
            <p:ph idx="1" type="body"/>
          </p:nvPr>
        </p:nvSpPr>
        <p:spPr>
          <a:xfrm>
            <a:off x="311700" y="1152475"/>
            <a:ext cx="8724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実験中は任意のタイミングで実験中止を宣言することができます</a:t>
            </a:r>
            <a:endParaRPr/>
          </a:p>
          <a:p>
            <a:pPr indent="-342900" lvl="0" marL="457200" rtl="0" algn="l">
              <a:spcBef>
                <a:spcPts val="0"/>
              </a:spcBef>
              <a:spcAft>
                <a:spcPts val="0"/>
              </a:spcAft>
              <a:buSzPts val="1800"/>
              <a:buChar char="●"/>
            </a:pPr>
            <a:r>
              <a:rPr lang="ja"/>
              <a:t>各手法の間には5分程度の休憩を設けます</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実験補足</a:t>
            </a:r>
            <a:endParaRPr/>
          </a:p>
        </p:txBody>
      </p:sp>
      <p:sp>
        <p:nvSpPr>
          <p:cNvPr id="161" name="Google Shape;161;p28"/>
          <p:cNvSpPr txBox="1"/>
          <p:nvPr>
            <p:ph idx="1" type="body"/>
          </p:nvPr>
        </p:nvSpPr>
        <p:spPr>
          <a:xfrm>
            <a:off x="311700" y="1152475"/>
            <a:ext cx="8724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なにか聞いておきたいことがあればお願いします🙇‍♂️</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